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314" r:id="rId4"/>
    <p:sldId id="257" r:id="rId5"/>
    <p:sldId id="279" r:id="rId6"/>
    <p:sldId id="280" r:id="rId7"/>
    <p:sldId id="285" r:id="rId8"/>
    <p:sldId id="286" r:id="rId9"/>
    <p:sldId id="287" r:id="rId10"/>
    <p:sldId id="353" r:id="rId11"/>
    <p:sldId id="290" r:id="rId12"/>
    <p:sldId id="291" r:id="rId13"/>
    <p:sldId id="292" r:id="rId14"/>
    <p:sldId id="288" r:id="rId15"/>
    <p:sldId id="354" r:id="rId16"/>
    <p:sldId id="293" r:id="rId17"/>
    <p:sldId id="294" r:id="rId18"/>
    <p:sldId id="295" r:id="rId19"/>
    <p:sldId id="296" r:id="rId20"/>
    <p:sldId id="297" r:id="rId21"/>
    <p:sldId id="298" r:id="rId22"/>
    <p:sldId id="264" r:id="rId24"/>
    <p:sldId id="348" r:id="rId25"/>
    <p:sldId id="349" r:id="rId26"/>
    <p:sldId id="350" r:id="rId27"/>
    <p:sldId id="351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yujie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66458"/>
            <a:ext cx="9144000" cy="2387600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+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蚁群算法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365" y="4140835"/>
            <a:ext cx="9144635" cy="483235"/>
          </a:xfrm>
        </p:spPr>
        <p:txBody>
          <a:bodyPr>
            <a:normAutofit lnSpcReduction="20000"/>
          </a:bodyPr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1853344 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易钰洁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参考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3770"/>
          </a:xfrm>
        </p:spPr>
        <p:txBody>
          <a:bodyPr>
            <a:normAutofit fontScale="80000"/>
          </a:bodyPr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[1]10分钟搞懂遗传算法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https://blog.csdn.net/u010425776/article/details/79155480?ops_request_misc=&amp;request_id=&amp;biz_id=102&amp;utm_source=distribute.pc_search_result.none-task-blog-2~all~sobaiduweb~default-1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[2]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遗传算法解决寻路问题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——python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描述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https://www.cnblogs.com/oldBook/p/9900341.html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[3]遗传算法、模拟退火算法、蚁群算法介绍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https://blog.csdn.net/weixin_38208741/article/details/83036994?ops_request_misc=%257B%2522request%255Fid%2522%253A%2522158807867019195239853656%2522%252C%2522scm%2522%253A%252220140713.130102334.pc%255Fall.%2522%257D&amp;request_id=158807867019195239853656&amp;biz_id=0&amp;utm_source=distribute.pc_search_result.none-task-blog-2~all~first_rank_v2~rank_v25-2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[4]深度学习 --- 模拟退火算法详解（Simulated Annealing， SA）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https://blog.csdn.net/weixin_42398658/article/details/84031235?ops_request_misc=&amp;request_id=&amp;biz_id=102&amp;utm_source=distribute.pc_search_result.none-task-blog-2~all~sobaiduweb~default-1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[5]蚁群算法（ACO）最短路径规划（MATLAB）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https://blog.csdn.net/xyisv/article/details/79184815?ops_request_misc=&amp;request_id=&amp;biz_id=102&amp;utm_source=distribute.pc_search_result.none-task-blog-2~all~sobaiduweb~default-1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[6]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6335"/>
          </a:xfrm>
        </p:spPr>
        <p:txBody>
          <a:bodyPr>
            <a:normAutofit lnSpcReduction="20000"/>
          </a:bodyPr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基因和染色体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问题的一个可行解为染色体（路径），可行解由多个元素（基因）决定。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适应度函数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衡量染色体优劣。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交叉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通过赌轮选择选出通过做交叉来生成新染色体的母染色体。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（染色体i被选择的概率 = 染色体i的适应度 / 所有染色体的适应度之和）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变异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当我们通过交叉生成了一条新的染色体后，需要在新染色体上随机选择若干个基因，然后随机修改基因的值，从而给现有的染色体引入了新的基因。（变异率是事先设定的）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复制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除去变异产生下一代染色体，还复制适应度最高的母染色体作为下一代染色体。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截屏2020-04-2811.30.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3680" y="2626995"/>
            <a:ext cx="1833880" cy="1604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81530"/>
            <a:ext cx="10515600" cy="2694940"/>
          </a:xfrm>
        </p:spPr>
        <p:txBody>
          <a:bodyPr/>
          <a:p>
            <a:r>
              <a:rPr lang="en-US" sz="1800">
                <a:latin typeface="微软雅黑" panose="020B0703020204020201" charset="-122"/>
                <a:ea typeface="微软雅黑" panose="020B0703020204020201" charset="-122"/>
              </a:rPr>
              <a:t>1.</a:t>
            </a:r>
            <a:r>
              <a:rPr sz="1800">
                <a:latin typeface="微软雅黑" panose="020B0703020204020201" charset="-122"/>
                <a:ea typeface="微软雅黑" panose="020B0703020204020201" charset="-122"/>
              </a:rPr>
              <a:t>将起点加入到优先队列中</a:t>
            </a:r>
            <a:endParaRPr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sz="1800">
                <a:latin typeface="微软雅黑" panose="020B0703020204020201" charset="-122"/>
                <a:ea typeface="微软雅黑" panose="020B0703020204020201" charset="-122"/>
              </a:rPr>
              <a:t>2.</a:t>
            </a:r>
            <a:r>
              <a:rPr sz="1800">
                <a:latin typeface="微软雅黑" panose="020B0703020204020201" charset="-122"/>
                <a:ea typeface="微软雅黑" panose="020B0703020204020201" charset="-122"/>
              </a:rPr>
              <a:t>从优先队列中取出顶部顶点p0，将p0加入到Path(路径结果),</a:t>
            </a:r>
            <a:r>
              <a:rPr lang="zh-CN" sz="1800">
                <a:latin typeface="微软雅黑" panose="020B0703020204020201" charset="-122"/>
                <a:ea typeface="微软雅黑" panose="020B0703020204020201" charset="-122"/>
              </a:rPr>
              <a:t>判断</a:t>
            </a:r>
            <a:r>
              <a:rPr sz="1800">
                <a:latin typeface="微软雅黑" panose="020B0703020204020201" charset="-122"/>
                <a:ea typeface="微软雅黑" panose="020B0703020204020201" charset="-122"/>
              </a:rPr>
              <a:t>p0是</a:t>
            </a:r>
            <a:r>
              <a:rPr lang="zh-CN" sz="1800">
                <a:latin typeface="微软雅黑" panose="020B0703020204020201" charset="-122"/>
                <a:ea typeface="微软雅黑" panose="020B0703020204020201" charset="-122"/>
              </a:rPr>
              <a:t>否为</a:t>
            </a:r>
            <a:r>
              <a:rPr sz="1800">
                <a:latin typeface="微软雅黑" panose="020B0703020204020201" charset="-122"/>
                <a:ea typeface="微软雅黑" panose="020B0703020204020201" charset="-122"/>
              </a:rPr>
              <a:t>终点</a:t>
            </a:r>
            <a:r>
              <a:rPr lang="zh-CN" sz="1800">
                <a:latin typeface="微软雅黑" panose="020B0703020204020201" charset="-122"/>
                <a:ea typeface="微软雅黑" panose="020B0703020204020201" charset="-122"/>
              </a:rPr>
              <a:t>，是则</a:t>
            </a:r>
            <a:r>
              <a:rPr sz="1800">
                <a:latin typeface="微软雅黑" panose="020B0703020204020201" charset="-122"/>
                <a:ea typeface="微软雅黑" panose="020B0703020204020201" charset="-122"/>
              </a:rPr>
              <a:t>结束</a:t>
            </a:r>
            <a:r>
              <a:rPr lang="zh-CN" sz="1800">
                <a:latin typeface="微软雅黑" panose="020B0703020204020201" charset="-122"/>
                <a:ea typeface="微软雅黑" panose="020B0703020204020201" charset="-122"/>
              </a:rPr>
              <a:t>。</a:t>
            </a:r>
            <a:endParaRPr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sz="1800">
                <a:latin typeface="微软雅黑" panose="020B0703020204020201" charset="-122"/>
                <a:ea typeface="微软雅黑" panose="020B0703020204020201" charset="-122"/>
              </a:rPr>
              <a:t>3.</a:t>
            </a:r>
            <a:r>
              <a:rPr sz="1800" u="sng">
                <a:latin typeface="微软雅黑" panose="020B0703020204020201" charset="-122"/>
                <a:ea typeface="微软雅黑" panose="020B0703020204020201" charset="-122"/>
              </a:rPr>
              <a:t>随机</a:t>
            </a:r>
            <a:r>
              <a:rPr sz="1800">
                <a:latin typeface="微软雅黑" panose="020B0703020204020201" charset="-122"/>
                <a:ea typeface="微软雅黑" panose="020B0703020204020201" charset="-122"/>
              </a:rPr>
              <a:t>获取其周围的8个点中的一个p1</a:t>
            </a:r>
            <a:r>
              <a:rPr lang="zh-CN" sz="1800">
                <a:latin typeface="微软雅黑" panose="020B0703020204020201" charset="-122"/>
                <a:ea typeface="微软雅黑" panose="020B0703020204020201" charset="-122"/>
              </a:rPr>
              <a:t>。</a:t>
            </a:r>
            <a:endParaRPr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sz="1800">
                <a:latin typeface="微软雅黑" panose="020B0703020204020201" charset="-122"/>
                <a:ea typeface="微软雅黑" panose="020B0703020204020201" charset="-122"/>
              </a:rPr>
              <a:t>4.</a:t>
            </a:r>
            <a:r>
              <a:rPr sz="1800">
                <a:latin typeface="微软雅黑" panose="020B0703020204020201" charset="-122"/>
                <a:ea typeface="微软雅黑" panose="020B0703020204020201" charset="-122"/>
              </a:rPr>
              <a:t>比较p0到目标点的</a:t>
            </a:r>
            <a:r>
              <a:rPr sz="1800" u="sng">
                <a:latin typeface="微软雅黑" panose="020B0703020204020201" charset="-122"/>
                <a:ea typeface="微软雅黑" panose="020B0703020204020201" charset="-122"/>
              </a:rPr>
              <a:t>曼哈顿距离</a:t>
            </a:r>
            <a:r>
              <a:rPr sz="1800">
                <a:latin typeface="微软雅黑" panose="020B0703020204020201" charset="-122"/>
                <a:ea typeface="微软雅黑" panose="020B0703020204020201" charset="-122"/>
              </a:rPr>
              <a:t>|p0-target|和p1到目标点的距离|p1-target|</a:t>
            </a:r>
            <a:r>
              <a:rPr lang="zh-CN" sz="1800">
                <a:latin typeface="微软雅黑" panose="020B0703020204020201" charset="-122"/>
                <a:ea typeface="微软雅黑" panose="020B0703020204020201" charset="-122"/>
              </a:rPr>
              <a:t>。</a:t>
            </a:r>
            <a:endParaRPr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sz="1800">
                <a:latin typeface="微软雅黑" panose="020B0703020204020201" charset="-122"/>
                <a:ea typeface="微软雅黑" panose="020B0703020204020201" charset="-122"/>
              </a:rPr>
              <a:t>5.</a:t>
            </a:r>
            <a:r>
              <a:rPr sz="1800">
                <a:latin typeface="微软雅黑" panose="020B0703020204020201" charset="-122"/>
                <a:ea typeface="微软雅黑" panose="020B0703020204020201" charset="-122"/>
              </a:rPr>
              <a:t>如果|p1-target|&lt;|p0-target|并且p1 not in Path, 将p1加入优先队列</a:t>
            </a:r>
            <a:r>
              <a:rPr lang="zh-CN" sz="1800">
                <a:latin typeface="微软雅黑" panose="020B0703020204020201" charset="-122"/>
                <a:ea typeface="微软雅黑" panose="020B0703020204020201" charset="-122"/>
              </a:rPr>
              <a:t>，p0&lt;-p1。</a:t>
            </a:r>
            <a:endParaRPr lang="zh-CN" sz="1800">
              <a:solidFill>
                <a:srgbClr val="FF0000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solidFill>
                  <a:schemeClr val="tx1"/>
                </a:solidFill>
                <a:latin typeface="微软雅黑" panose="020B0703020204020201" charset="-122"/>
                <a:ea typeface="微软雅黑" panose="020B0703020204020201" charset="-122"/>
              </a:rPr>
              <a:t>6.</a:t>
            </a:r>
            <a:r>
              <a:rPr lang="zh-CN" sz="1800">
                <a:solidFill>
                  <a:schemeClr val="tx1"/>
                </a:solidFill>
                <a:latin typeface="微软雅黑" panose="020B0703020204020201" charset="-122"/>
                <a:ea typeface="微软雅黑" panose="020B0703020204020201" charset="-122"/>
              </a:rPr>
              <a:t>重复上述步骤直到达到终点</a:t>
            </a:r>
            <a:endParaRPr lang="zh-CN" sz="1800">
              <a:solidFill>
                <a:schemeClr val="tx1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solidFill>
                  <a:schemeClr val="tx1"/>
                </a:solidFill>
                <a:latin typeface="微软雅黑" panose="020B0703020204020201" charset="-122"/>
                <a:ea typeface="微软雅黑" panose="020B0703020204020201" charset="-122"/>
              </a:rPr>
              <a:t>7.</a:t>
            </a:r>
            <a:r>
              <a:rPr lang="zh-CN" altLang="en-US" sz="1800">
                <a:solidFill>
                  <a:schemeClr val="tx1"/>
                </a:solidFill>
                <a:latin typeface="微软雅黑" panose="020B0703020204020201" charset="-122"/>
                <a:ea typeface="微软雅黑" panose="020B0703020204020201" charset="-122"/>
              </a:rPr>
              <a:t>交叉和变异</a:t>
            </a:r>
            <a:endParaRPr lang="zh-CN" altLang="en-US" sz="1800">
              <a:solidFill>
                <a:schemeClr val="tx1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——python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设置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PATH_COUNT = 100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交叉概率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cross_p = 0.6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变异概率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variation_p = 0.4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变异次数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variation_times = 4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迭代次数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——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ITERATION_COUNT = 100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八个方位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direction_arr = [(-1, -1), (0, -1), (1, -1), (-1, 0), (1, 0), (-1, 1), (0, 1), (1, 1)]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WIDTH = 100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HEIGHT = 100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MIN = 0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MAX = WIDTH * HEIGHT - 1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DIS_1=1.4</a:t>
            </a:r>
            <a:endParaRPr lang="en-US" altLang="zh-CN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DIS_2=1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19.46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6215" y="1917700"/>
            <a:ext cx="671893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生成一条路径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48070" y="1844675"/>
            <a:ext cx="5205730" cy="4566920"/>
          </a:xfrm>
        </p:spPr>
        <p:txBody>
          <a:bodyPr>
            <a:normAutofit/>
          </a:bodyPr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加入起始点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随机取八个方位任意一点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①是否是终点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②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该点是否存在图中可走的位置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③看他是否相对上一个点往终点跑（通过曼哈顿距离来估计）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pos为任意点的坐标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若符合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①②③，则添加到路径中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（这样，相对随机生成的路径，收敛到最佳路径的速度更快。）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5" name="图片 4" descr="截屏2020-04-2819.47.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2480310"/>
            <a:ext cx="5343525" cy="3763645"/>
          </a:xfrm>
          <a:prstGeom prst="rect">
            <a:avLst/>
          </a:prstGeom>
        </p:spPr>
      </p:pic>
      <p:pic>
        <p:nvPicPr>
          <p:cNvPr id="6" name="图片 5" descr="截屏2020-04-2819.52.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" y="1523365"/>
            <a:ext cx="5299710" cy="7854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461770" y="4790440"/>
            <a:ext cx="135509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21730" y="3215640"/>
            <a:ext cx="5132070" cy="426720"/>
          </a:xfrm>
        </p:spPr>
        <p:txBody>
          <a:bodyPr>
            <a:normAutofit fontScale="70000"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将点表示成数字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5" name="图片 4" descr="截屏2020-04-3017.53.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979295"/>
            <a:ext cx="4597400" cy="1790700"/>
          </a:xfrm>
          <a:prstGeom prst="rect">
            <a:avLst/>
          </a:prstGeom>
        </p:spPr>
      </p:pic>
      <p:pic>
        <p:nvPicPr>
          <p:cNvPr id="6" name="图片 5" descr="截屏2020-04-3017.54.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85" y="3769995"/>
            <a:ext cx="3186430" cy="2359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初代路径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21730" y="3215640"/>
            <a:ext cx="5132070" cy="426720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生成初代路径，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100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条路径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19.56.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705100"/>
            <a:ext cx="50165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选择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44335" y="2354580"/>
            <a:ext cx="4609465" cy="2148205"/>
          </a:xfrm>
        </p:spPr>
        <p:txBody>
          <a:bodyPr>
            <a:normAutofit lnSpcReduction="10000"/>
          </a:bodyPr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计算一条路径的适应度值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sm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为路径长度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w=1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表示横向走一格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w=WIDTH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表示竖向走一格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其他则是斜线走一格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DIS_1=1.4   DIS_2=1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19.56.08"/>
          <p:cNvPicPr>
            <a:picLocks noChangeAspect="1"/>
          </p:cNvPicPr>
          <p:nvPr/>
        </p:nvPicPr>
        <p:blipFill>
          <a:blip r:embed="rId1"/>
          <a:srcRect t="10446" r="-506"/>
          <a:stretch>
            <a:fillRect/>
          </a:stretch>
        </p:blipFill>
        <p:spPr>
          <a:xfrm>
            <a:off x="838200" y="2155190"/>
            <a:ext cx="5041900" cy="25476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选择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9810" y="3046730"/>
            <a:ext cx="5253990" cy="1088390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计算所有路径的适应度值，放入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res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中。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取出适应度值最大的路径令为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best_path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19.58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449705"/>
            <a:ext cx="4787900" cy="5118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选择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68060" y="2870200"/>
            <a:ext cx="5285740" cy="1118235"/>
          </a:xfrm>
        </p:spPr>
        <p:txBody>
          <a:bodyPr>
            <a:normAutofit lnSpcReduction="10000"/>
          </a:bodyPr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累计概率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fits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为存有所有路径适应度值的数组。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res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中是累计的概率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19.59.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247900"/>
            <a:ext cx="47879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选择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16650" y="3356610"/>
            <a:ext cx="5266690" cy="1274445"/>
          </a:xfrm>
        </p:spPr>
        <p:txBody>
          <a:bodyPr>
            <a:normAutofit/>
          </a:bodyPr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pArr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为累计概率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p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为随机产生的数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根据概率选择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count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条路径来交叉变异操作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20.00.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692400"/>
            <a:ext cx="4787900" cy="260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选择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7110" y="3698875"/>
            <a:ext cx="5266690" cy="1147445"/>
          </a:xfrm>
        </p:spPr>
        <p:txBody>
          <a:bodyPr>
            <a:normAutofit lnSpcReduction="10000"/>
          </a:bodyPr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就像赌轮转盘一样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p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就像指针一样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适应度值越大即路径越短，选中的概率越高。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9" name="图片 8" descr="截屏2020-04-3018.54.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64130"/>
            <a:ext cx="3365500" cy="3416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9810" y="3079750"/>
            <a:ext cx="5253990" cy="1827530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求两条路径的交集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r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为随机产生的数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cross_p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交叉概率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如果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r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大于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cross_p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，则对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path1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和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path2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交叉公共部分处理。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20.01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05915"/>
            <a:ext cx="5007610" cy="47758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8540" y="3742055"/>
            <a:ext cx="5255260" cy="502920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相邻两个路径做交叉处理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20.05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06015"/>
            <a:ext cx="51435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8540" y="2867025"/>
            <a:ext cx="5255260" cy="2252980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对路径进行变异处理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variation_p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为变异概率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r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为随机产生的数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若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</a:rPr>
              <a:t>r&gt;</a:t>
            </a:r>
            <a:r>
              <a:rPr lang="en-US" altLang="zh-CN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variation_p</a:t>
            </a:r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，则进行变异操作。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随机选点做变异操作。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还要判断变异操作后三点能否走通。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20.06.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780540"/>
            <a:ext cx="5142230" cy="4425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9175" y="3748405"/>
            <a:ext cx="5254625" cy="490855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根据设置的变异次数进行变异操作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20.08.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068955"/>
            <a:ext cx="4991100" cy="18503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9175" y="3769995"/>
            <a:ext cx="5254625" cy="447040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输出信息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20.13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790190"/>
            <a:ext cx="5041265" cy="24072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遗传寻路算法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3780" y="2661920"/>
            <a:ext cx="5108575" cy="1533525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求累计概率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通过累计概率选择路径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交叉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变异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820.17.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407795"/>
            <a:ext cx="3778885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蚁群算法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3425"/>
          </a:xfrm>
        </p:spPr>
        <p:txBody>
          <a:bodyPr>
            <a:normAutofit/>
          </a:bodyPr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模拟蚂蚁寻找食物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蚂蚁的目光很短，它只会检索它附近的很小一部分空间，但是它在寻路过程中不会去重复它留下过信息素的空间（不会往回走）。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遇到了障碍物，它们会随机分为两拨，一波往左一波往右。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因为环境会挥发掉它们的信息素，于是，较短的路留下的信息素多，而较长的路留下的少。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之后的蚁群会趋向于信息素较多（较短）的路径。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蚁群中又有一些特别的蚂蚁，它们并不会走大家走的路，而是以一定概率寻找新路，如果新路更短，信息素挥发更少，渐渐得蚁群就会走向更短的路径。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  <a:sym typeface="+mn-ea"/>
              </a:rPr>
              <a:t>把这个过程映射到计算机算法上，计算机在单次迭代过程中，会在路径的节点上留下信息素（可以使用数据变量来表示）。每次迭代都做信息素蒸发处理，多次迭代后聚集信息素较多的路径即可认为是较优路径。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蚁群算法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——matlab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78525" y="2517775"/>
            <a:ext cx="5375275" cy="1911350"/>
          </a:xfrm>
        </p:spPr>
        <p:txBody>
          <a:bodyPr>
            <a:normAutofit lnSpcReduction="20000"/>
          </a:bodyPr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对每一只蚂蚁🐜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第一步，状态初始化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第二步，下一步可以前往的节点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902.29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80210"/>
            <a:ext cx="5140325" cy="465772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869950" y="2517775"/>
            <a:ext cx="7048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蚁群算法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0125" y="1840865"/>
            <a:ext cx="5273675" cy="4336415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第三步，转轮赌注决定下一步怎么走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第四步，状态更新和记录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路径增加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移到下一节点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已访问的节点从禁忌表中删除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重复上述操作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902.29.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22425"/>
            <a:ext cx="3505200" cy="47739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蚁群算法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0125" y="1840865"/>
            <a:ext cx="5273675" cy="4336415"/>
          </a:xfrm>
        </p:spPr>
        <p:txBody>
          <a:bodyPr/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第五步，记下每一只蚂蚁的觅食路线和路线长度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第六步，更新信息素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下一批蚂蚁🐜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截屏2020-04-2902.30.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657985"/>
            <a:ext cx="4624070" cy="47021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蚁群算法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50225" y="3350895"/>
            <a:ext cx="3203575" cy="1065530"/>
          </a:xfrm>
        </p:spPr>
        <p:txBody>
          <a:bodyPr>
            <a:normAutofit lnSpcReduction="20000"/>
          </a:bodyPr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各个参数取值需要小心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可以让参数动态变化。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 sz="1800">
                <a:latin typeface="微软雅黑" panose="020B0703020204020201" charset="-122"/>
                <a:ea typeface="微软雅黑" panose="020B0703020204020201" charset="-122"/>
              </a:rPr>
              <a:t>（还要具体研究）</a:t>
            </a:r>
            <a:endParaRPr lang="zh-CN" altLang="en-US" sz="1800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4" name="图片 3" descr="201705131945312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1005"/>
            <a:ext cx="6879590" cy="43853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2986</Words>
  <Application>WPS 文字</Application>
  <PresentationFormat>宽屏</PresentationFormat>
  <Paragraphs>235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方正书宋_GBK</vt:lpstr>
      <vt:lpstr>Wingdings</vt:lpstr>
      <vt:lpstr>微软雅黑</vt:lpstr>
      <vt:lpstr>宋体</vt:lpstr>
      <vt:lpstr>Arial Unicode MS</vt:lpstr>
      <vt:lpstr>汉仪书宋二KW</vt:lpstr>
      <vt:lpstr>Calibri Light</vt:lpstr>
      <vt:lpstr>Helvetica Neue</vt:lpstr>
      <vt:lpstr>Calibri</vt:lpstr>
      <vt:lpstr>Apple Color Emoji</vt:lpstr>
      <vt:lpstr>Office 主题</vt:lpstr>
      <vt:lpstr>遗传算法+蚁群算法</vt:lpstr>
      <vt:lpstr>参考</vt:lpstr>
      <vt:lpstr>遗传算法</vt:lpstr>
      <vt:lpstr>遗传算法</vt:lpstr>
      <vt:lpstr>遗传寻路算法——python</vt:lpstr>
      <vt:lpstr>遗传寻路算法</vt:lpstr>
      <vt:lpstr>遗传寻路算法——生成一条路径</vt:lpstr>
      <vt:lpstr>遗传寻路算法</vt:lpstr>
      <vt:lpstr>遗传寻路算法——初代路径</vt:lpstr>
      <vt:lpstr>遗传寻路算法——选择</vt:lpstr>
      <vt:lpstr>遗传寻路算法——选择</vt:lpstr>
      <vt:lpstr>遗传寻路算法——选择</vt:lpstr>
      <vt:lpstr>遗传寻路算法——选择</vt:lpstr>
      <vt:lpstr>遗传寻路算法——选择</vt:lpstr>
      <vt:lpstr>遗传寻路算法</vt:lpstr>
      <vt:lpstr>遗传寻路算法</vt:lpstr>
      <vt:lpstr>遗传寻路算法</vt:lpstr>
      <vt:lpstr>遗传寻路算法</vt:lpstr>
      <vt:lpstr>遗传寻路算法</vt:lpstr>
      <vt:lpstr>遗传寻路算法</vt:lpstr>
      <vt:lpstr>蚁群算法</vt:lpstr>
      <vt:lpstr>蚁群算法——matlab</vt:lpstr>
      <vt:lpstr>蚁群算法</vt:lpstr>
      <vt:lpstr>蚁群算法</vt:lpstr>
      <vt:lpstr>蚁群算法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yiyujie</dc:creator>
  <cp:lastModifiedBy>yiyujie</cp:lastModifiedBy>
  <cp:revision>11</cp:revision>
  <dcterms:created xsi:type="dcterms:W3CDTF">2020-11-09T06:12:51Z</dcterms:created>
  <dcterms:modified xsi:type="dcterms:W3CDTF">2020-11-09T06:12:51Z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2052-2.6.1.4274</vt:lpwstr>
  </property>
</Properties>
</file>