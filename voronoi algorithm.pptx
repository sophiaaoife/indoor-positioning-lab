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8" r:id="rId4"/>
    <p:sldId id="263" r:id="rId5"/>
    <p:sldId id="264" r:id="rId6"/>
    <p:sldId id="271" r:id="rId7"/>
    <p:sldId id="272" r:id="rId8"/>
    <p:sldId id="273" r:id="rId9"/>
    <p:sldId id="265" r:id="rId10"/>
    <p:sldId id="280" r:id="rId11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86774" y="1778438"/>
            <a:ext cx="4873574" cy="8239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1186774" y="2665379"/>
            <a:ext cx="4873574" cy="352428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56938" y="1778438"/>
            <a:ext cx="4897576" cy="8239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56938" y="2665379"/>
            <a:ext cx="4897576" cy="352428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4165349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457201"/>
            <a:ext cx="6172200" cy="54038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4165349" cy="3811588"/>
          </a:xfrm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838200" y="365125"/>
            <a:ext cx="10515600" cy="58118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en-US" altLang="zh-CN">
                <a:latin typeface="微软雅黑" panose="020B0703020204020201" charset="-122"/>
                <a:ea typeface="微软雅黑" panose="020B0703020204020201" charset="-122"/>
              </a:rPr>
              <a:t>Voronoi</a:t>
            </a:r>
            <a:r>
              <a:rPr lang="zh-CN" altLang="en-US">
                <a:latin typeface="微软雅黑" panose="020B0703020204020201" charset="-122"/>
                <a:ea typeface="微软雅黑" panose="020B0703020204020201" charset="-122"/>
              </a:rPr>
              <a:t>图算法</a:t>
            </a:r>
            <a:endParaRPr lang="zh-CN" altLang="en-US">
              <a:latin typeface="微软雅黑" panose="020B0703020204020201" charset="-122"/>
              <a:ea typeface="微软雅黑" panose="020B0703020204020201" charset="-122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p>
            <a:r>
              <a:rPr lang="en-US" altLang="zh-CN">
                <a:latin typeface="微软雅黑" panose="020B0703020204020201" charset="-122"/>
                <a:ea typeface="微软雅黑" panose="020B0703020204020201" charset="-122"/>
              </a:rPr>
              <a:t>1853344 </a:t>
            </a:r>
            <a:r>
              <a:rPr lang="zh-CN" altLang="en-US">
                <a:latin typeface="微软雅黑" panose="020B0703020204020201" charset="-122"/>
                <a:ea typeface="微软雅黑" panose="020B0703020204020201" charset="-122"/>
              </a:rPr>
              <a:t>易钰洁</a:t>
            </a:r>
            <a:endParaRPr lang="zh-CN" altLang="en-US">
              <a:latin typeface="微软雅黑" panose="020B0703020204020201" charset="-122"/>
              <a:ea typeface="微软雅黑" panose="020B0703020204020201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微软雅黑" panose="020B0703020204020201" charset="-122"/>
                <a:ea typeface="微软雅黑" panose="020B0703020204020201" charset="-122"/>
              </a:rPr>
              <a:t>参考</a:t>
            </a:r>
            <a:endParaRPr lang="zh-CN" altLang="en-US">
              <a:latin typeface="微软雅黑" panose="020B0703020204020201" charset="-122"/>
              <a:ea typeface="微软雅黑" panose="020B0703020204020201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20000"/>
          </a:bodyPr>
          <a:p>
            <a:r>
              <a:rPr lang="en-US" altLang="zh-CN" sz="2400">
                <a:latin typeface="微软雅黑" panose="020B0703020204020201" charset="-122"/>
                <a:ea typeface="微软雅黑" panose="020B0703020204020201" charset="-122"/>
              </a:rPr>
              <a:t>[1]</a:t>
            </a:r>
            <a:r>
              <a:rPr lang="zh-CN" altLang="en-US" sz="2400">
                <a:latin typeface="微软雅黑" panose="020B0703020204020201" charset="-122"/>
                <a:ea typeface="微软雅黑" panose="020B0703020204020201" charset="-122"/>
              </a:rPr>
              <a:t>徐政超</a:t>
            </a:r>
            <a:r>
              <a:rPr lang="en-US" altLang="zh-CN" sz="2400">
                <a:latin typeface="微软雅黑" panose="020B0703020204020201" charset="-122"/>
                <a:ea typeface="微软雅黑" panose="020B0703020204020201" charset="-122"/>
              </a:rPr>
              <a:t>.</a:t>
            </a:r>
            <a:r>
              <a:rPr lang="zh-CN" altLang="en-US" sz="2400">
                <a:latin typeface="微软雅黑" panose="020B0703020204020201" charset="-122"/>
                <a:ea typeface="微软雅黑" panose="020B0703020204020201" charset="-122"/>
              </a:rPr>
              <a:t>基于</a:t>
            </a:r>
            <a:r>
              <a:rPr lang="en-US" altLang="zh-CN" sz="2400">
                <a:latin typeface="微软雅黑" panose="020B0703020204020201" charset="-122"/>
                <a:ea typeface="微软雅黑" panose="020B0703020204020201" charset="-122"/>
              </a:rPr>
              <a:t>voronoi</a:t>
            </a:r>
            <a:r>
              <a:rPr lang="zh-CN" altLang="en-US" sz="2400">
                <a:latin typeface="微软雅黑" panose="020B0703020204020201" charset="-122"/>
                <a:ea typeface="微软雅黑" panose="020B0703020204020201" charset="-122"/>
              </a:rPr>
              <a:t>图算法的航路规划方法研究</a:t>
            </a:r>
            <a:r>
              <a:rPr lang="en-US" altLang="zh-CN" sz="2400">
                <a:latin typeface="微软雅黑" panose="020B0703020204020201" charset="-122"/>
                <a:ea typeface="微软雅黑" panose="020B0703020204020201" charset="-122"/>
              </a:rPr>
              <a:t>[D].</a:t>
            </a:r>
            <a:r>
              <a:rPr lang="zh-CN" altLang="en-US" sz="2400">
                <a:latin typeface="微软雅黑" panose="020B0703020204020201" charset="-122"/>
                <a:ea typeface="微软雅黑" panose="020B0703020204020201" charset="-122"/>
              </a:rPr>
              <a:t>陕西：长安大学资源与环境遥感，</a:t>
            </a:r>
            <a:r>
              <a:rPr lang="en-US" altLang="zh-CN" sz="2400">
                <a:latin typeface="微软雅黑" panose="020B0703020204020201" charset="-122"/>
                <a:ea typeface="微软雅黑" panose="020B0703020204020201" charset="-122"/>
              </a:rPr>
              <a:t>2014</a:t>
            </a:r>
            <a:r>
              <a:rPr lang="zh-CN" altLang="en-US" sz="2400">
                <a:latin typeface="微软雅黑" panose="020B0703020204020201" charset="-122"/>
                <a:ea typeface="微软雅黑" panose="020B0703020204020201" charset="-122"/>
              </a:rPr>
              <a:t>：</a:t>
            </a:r>
            <a:r>
              <a:rPr lang="en-US" altLang="zh-CN" sz="2400">
                <a:latin typeface="微软雅黑" panose="020B0703020204020201" charset="-122"/>
                <a:ea typeface="微软雅黑" panose="020B0703020204020201" charset="-122"/>
              </a:rPr>
              <a:t>1-58</a:t>
            </a:r>
            <a:endParaRPr lang="en-US" altLang="zh-CN" sz="2400">
              <a:latin typeface="微软雅黑" panose="020B0703020204020201" charset="-122"/>
              <a:ea typeface="微软雅黑" panose="020B0703020204020201" charset="-122"/>
            </a:endParaRPr>
          </a:p>
          <a:p>
            <a:r>
              <a:rPr lang="en-US" altLang="zh-CN" sz="2400">
                <a:latin typeface="微软雅黑" panose="020B0703020204020201" charset="-122"/>
                <a:ea typeface="微软雅黑" panose="020B0703020204020201" charset="-122"/>
              </a:rPr>
              <a:t>[2]易晟,樊晓平,罗熊.平面移动机器人最短路径规划的几何算法研究[J].长沙铁道学</a:t>
            </a:r>
            <a:r>
              <a:rPr lang="zh-CN" altLang="en-US" sz="2400">
                <a:latin typeface="微软雅黑" panose="020B0703020204020201" charset="-122"/>
                <a:ea typeface="微软雅黑" panose="020B0703020204020201" charset="-122"/>
              </a:rPr>
              <a:t>院</a:t>
            </a:r>
            <a:r>
              <a:rPr lang="en-US" altLang="zh-CN" sz="2400">
                <a:latin typeface="微软雅黑" panose="020B0703020204020201" charset="-122"/>
                <a:ea typeface="微软雅黑" panose="020B0703020204020201" charset="-122"/>
              </a:rPr>
              <a:t>报,2003,21(1):52-56. DOI:10.3969/j.issn.1672-7029.2003.01.011.</a:t>
            </a:r>
            <a:endParaRPr lang="en-US" altLang="zh-CN" sz="2400">
              <a:latin typeface="微软雅黑" panose="020B0703020204020201" charset="-122"/>
              <a:ea typeface="微软雅黑" panose="020B0703020204020201" charset="-122"/>
            </a:endParaRPr>
          </a:p>
          <a:p>
            <a:r>
              <a:rPr lang="en-US" altLang="zh-CN" sz="2400">
                <a:latin typeface="微软雅黑" panose="020B0703020204020201" charset="-122"/>
                <a:ea typeface="微软雅黑" panose="020B0703020204020201" charset="-122"/>
              </a:rPr>
              <a:t>[3]刘霞.汽车型机器人的避障路径规划[D].湖北:华中科技大学,2008. DOI:10.7666/d.d072184.</a:t>
            </a:r>
            <a:endParaRPr lang="en-US" altLang="zh-CN" sz="2400">
              <a:latin typeface="微软雅黑" panose="020B0703020204020201" charset="-122"/>
              <a:ea typeface="微软雅黑" panose="020B0703020204020201" charset="-122"/>
            </a:endParaRPr>
          </a:p>
          <a:p>
            <a:r>
              <a:rPr lang="en-US" altLang="zh-CN" sz="2400">
                <a:latin typeface="微软雅黑" panose="020B0703020204020201" charset="-122"/>
                <a:ea typeface="微软雅黑" panose="020B0703020204020201" charset="-122"/>
              </a:rPr>
              <a:t>[4]路径规划学习入门https://blog.csdn.net/dazhushenxu/article/details/77833023</a:t>
            </a:r>
            <a:endParaRPr lang="en-US" altLang="zh-CN" sz="1800">
              <a:latin typeface="微软雅黑" panose="020B0703020204020201" charset="-122"/>
              <a:ea typeface="微软雅黑" panose="020B0703020204020201" charset="-122"/>
            </a:endParaRPr>
          </a:p>
          <a:p>
            <a:endParaRPr lang="en-US" altLang="zh-CN" sz="1800">
              <a:latin typeface="微软雅黑" panose="020B0703020204020201" charset="-122"/>
              <a:ea typeface="微软雅黑" panose="020B0703020204020201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微软雅黑" panose="020B0703020204020201" charset="-122"/>
                <a:ea typeface="微软雅黑" panose="020B0703020204020201" charset="-122"/>
              </a:rPr>
              <a:t>传统方法</a:t>
            </a:r>
            <a:endParaRPr lang="zh-CN" altLang="en-US">
              <a:latin typeface="微软雅黑" panose="020B0703020204020201" charset="-122"/>
              <a:ea typeface="微软雅黑" panose="020B0703020204020201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>
                <a:latin typeface="微软雅黑" panose="020B0703020204020201" charset="-122"/>
                <a:ea typeface="微软雅黑" panose="020B0703020204020201" charset="-122"/>
              </a:rPr>
              <a:t>几何法：可视图法，</a:t>
            </a:r>
            <a:r>
              <a:rPr lang="en-US" altLang="zh-CN">
                <a:latin typeface="微软雅黑" panose="020B0703020204020201" charset="-122"/>
                <a:ea typeface="微软雅黑" panose="020B0703020204020201" charset="-122"/>
              </a:rPr>
              <a:t>Voronoi</a:t>
            </a:r>
            <a:r>
              <a:rPr lang="zh-CN" altLang="en-US">
                <a:latin typeface="微软雅黑" panose="020B0703020204020201" charset="-122"/>
                <a:ea typeface="微软雅黑" panose="020B0703020204020201" charset="-122"/>
              </a:rPr>
              <a:t>图法</a:t>
            </a:r>
            <a:endParaRPr lang="zh-CN" altLang="en-US">
              <a:latin typeface="微软雅黑" panose="020B0703020204020201" charset="-122"/>
              <a:ea typeface="微软雅黑" panose="020B0703020204020201" charset="-122"/>
            </a:endParaRPr>
          </a:p>
          <a:p>
            <a:r>
              <a:rPr lang="zh-CN" altLang="en-US">
                <a:latin typeface="微软雅黑" panose="020B0703020204020201" charset="-122"/>
                <a:ea typeface="微软雅黑" panose="020B0703020204020201" charset="-122"/>
              </a:rPr>
              <a:t>单元划分法</a:t>
            </a:r>
            <a:endParaRPr lang="zh-CN" altLang="en-US">
              <a:latin typeface="微软雅黑" panose="020B0703020204020201" charset="-122"/>
              <a:ea typeface="微软雅黑" panose="020B0703020204020201" charset="-122"/>
            </a:endParaRPr>
          </a:p>
          <a:p>
            <a:r>
              <a:rPr lang="zh-CN" altLang="en-US">
                <a:latin typeface="微软雅黑" panose="020B0703020204020201" charset="-122"/>
                <a:ea typeface="微软雅黑" panose="020B0703020204020201" charset="-122"/>
              </a:rPr>
              <a:t>人工势场法</a:t>
            </a:r>
            <a:endParaRPr lang="zh-CN" altLang="en-US">
              <a:latin typeface="微软雅黑" panose="020B0703020204020201" charset="-122"/>
              <a:ea typeface="微软雅黑" panose="020B0703020204020201" charset="-122"/>
            </a:endParaRPr>
          </a:p>
          <a:p>
            <a:endParaRPr lang="zh-CN" altLang="en-US">
              <a:latin typeface="微软雅黑" panose="020B0703020204020201" charset="-122"/>
              <a:ea typeface="微软雅黑" panose="020B0703020204020201" charset="-122"/>
            </a:endParaRPr>
          </a:p>
          <a:p>
            <a:r>
              <a:rPr lang="zh-CN" altLang="en-US">
                <a:latin typeface="微软雅黑" panose="020B0703020204020201" charset="-122"/>
                <a:ea typeface="微软雅黑" panose="020B0703020204020201" charset="-122"/>
              </a:rPr>
              <a:t>智能方法</a:t>
            </a:r>
            <a:endParaRPr lang="zh-CN" altLang="en-US">
              <a:latin typeface="微软雅黑" panose="020B0703020204020201" charset="-122"/>
              <a:ea typeface="微软雅黑" panose="020B0703020204020201" charset="-122"/>
            </a:endParaRPr>
          </a:p>
          <a:p>
            <a:r>
              <a:rPr lang="zh-CN" altLang="en-US">
                <a:latin typeface="微软雅黑" panose="020B0703020204020201" charset="-122"/>
                <a:ea typeface="微软雅黑" panose="020B0703020204020201" charset="-122"/>
              </a:rPr>
              <a:t>神经网络算法，遗传算法，</a:t>
            </a:r>
            <a:endParaRPr lang="zh-CN" altLang="en-US">
              <a:latin typeface="微软雅黑" panose="020B0703020204020201" charset="-122"/>
              <a:ea typeface="微软雅黑" panose="020B0703020204020201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微软雅黑" panose="020B0703020204020201" charset="-122"/>
                <a:ea typeface="微软雅黑" panose="020B0703020204020201" charset="-122"/>
              </a:rPr>
              <a:t>可视图法</a:t>
            </a:r>
            <a:endParaRPr lang="zh-CN" altLang="en-US">
              <a:latin typeface="微软雅黑" panose="020B0703020204020201" charset="-122"/>
              <a:ea typeface="微软雅黑" panose="020B0703020204020201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84570" y="2755900"/>
            <a:ext cx="5269230" cy="1346835"/>
          </a:xfrm>
        </p:spPr>
        <p:txBody>
          <a:bodyPr/>
          <a:p>
            <a:r>
              <a:rPr lang="zh-CN" altLang="en-US">
                <a:latin typeface="微软雅黑" panose="020B0703020204020201" charset="-122"/>
                <a:ea typeface="微软雅黑" panose="020B0703020204020201" charset="-122"/>
              </a:rPr>
              <a:t>将起点和终点以及障碍物的顶点用直线连接，要求连线不能穿过障碍物。</a:t>
            </a:r>
            <a:endParaRPr lang="zh-CN" altLang="en-US">
              <a:latin typeface="微软雅黑" panose="020B0703020204020201" charset="-122"/>
              <a:ea typeface="微软雅黑" panose="020B0703020204020201" charset="-122"/>
            </a:endParaRPr>
          </a:p>
        </p:txBody>
      </p:sp>
      <p:pic>
        <p:nvPicPr>
          <p:cNvPr id="4" name="图片 3" descr="2017090411432014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200" y="2068195"/>
            <a:ext cx="4149090" cy="272224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latin typeface="微软雅黑" panose="020B0703020204020201" charset="-122"/>
                <a:ea typeface="微软雅黑" panose="020B0703020204020201" charset="-122"/>
              </a:rPr>
              <a:t>Voronoi</a:t>
            </a:r>
            <a:r>
              <a:rPr lang="zh-CN" altLang="en-US">
                <a:latin typeface="微软雅黑" panose="020B0703020204020201" charset="-122"/>
                <a:ea typeface="微软雅黑" panose="020B0703020204020201" charset="-122"/>
              </a:rPr>
              <a:t>图</a:t>
            </a:r>
            <a:endParaRPr lang="zh-CN" altLang="en-US">
              <a:latin typeface="微软雅黑" panose="020B0703020204020201" charset="-122"/>
              <a:ea typeface="微软雅黑" panose="020B0703020204020201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84570" y="3391535"/>
            <a:ext cx="5269230" cy="1238885"/>
          </a:xfrm>
        </p:spPr>
        <p:txBody>
          <a:bodyPr/>
          <a:p>
            <a:r>
              <a:rPr lang="zh-CN" altLang="en-US">
                <a:latin typeface="微软雅黑" panose="020B0703020204020201" charset="-122"/>
                <a:ea typeface="微软雅黑" panose="020B0703020204020201" charset="-122"/>
              </a:rPr>
              <a:t>每个区域只包含一个障碍物。</a:t>
            </a:r>
            <a:endParaRPr lang="zh-CN" altLang="en-US">
              <a:latin typeface="微软雅黑" panose="020B0703020204020201" charset="-122"/>
              <a:ea typeface="微软雅黑" panose="020B0703020204020201" charset="-122"/>
            </a:endParaRPr>
          </a:p>
          <a:p>
            <a:r>
              <a:rPr lang="zh-CN" altLang="en-US">
                <a:latin typeface="微软雅黑" panose="020B0703020204020201" charset="-122"/>
                <a:ea typeface="微软雅黑" panose="020B0703020204020201" charset="-122"/>
              </a:rPr>
              <a:t>倾向于远离障碍物。</a:t>
            </a:r>
            <a:endParaRPr lang="zh-CN" altLang="en-US">
              <a:latin typeface="微软雅黑" panose="020B0703020204020201" charset="-122"/>
              <a:ea typeface="微软雅黑" panose="020B0703020204020201" charset="-122"/>
            </a:endParaRPr>
          </a:p>
        </p:txBody>
      </p:sp>
      <p:pic>
        <p:nvPicPr>
          <p:cNvPr id="4" name="图片 3" descr="2017090413040067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200" y="2630170"/>
            <a:ext cx="4496435" cy="276161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微软雅黑" panose="020B0703020204020201" charset="-122"/>
                <a:ea typeface="微软雅黑" panose="020B0703020204020201" charset="-122"/>
              </a:rPr>
              <a:t>单元分解</a:t>
            </a:r>
            <a:endParaRPr lang="zh-CN" altLang="en-US">
              <a:latin typeface="微软雅黑" panose="020B0703020204020201" charset="-122"/>
              <a:ea typeface="微软雅黑" panose="020B0703020204020201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84570" y="2900680"/>
            <a:ext cx="5269230" cy="1056640"/>
          </a:xfrm>
        </p:spPr>
        <p:txBody>
          <a:bodyPr/>
          <a:p>
            <a:r>
              <a:rPr lang="zh-CN" altLang="en-US">
                <a:latin typeface="微软雅黑" panose="020B0703020204020201" charset="-122"/>
                <a:ea typeface="微软雅黑" panose="020B0703020204020201" charset="-122"/>
              </a:rPr>
              <a:t>竖直分成不同的自由单元</a:t>
            </a:r>
            <a:endParaRPr lang="zh-CN" altLang="en-US">
              <a:latin typeface="微软雅黑" panose="020B0703020204020201" charset="-122"/>
              <a:ea typeface="微软雅黑" panose="020B0703020204020201" charset="-122"/>
            </a:endParaRPr>
          </a:p>
          <a:p>
            <a:r>
              <a:rPr lang="zh-CN" altLang="en-US">
                <a:latin typeface="微软雅黑" panose="020B0703020204020201" charset="-122"/>
                <a:ea typeface="微软雅黑" panose="020B0703020204020201" charset="-122"/>
              </a:rPr>
              <a:t>形成无向图</a:t>
            </a:r>
            <a:endParaRPr lang="zh-CN" altLang="en-US">
              <a:latin typeface="微软雅黑" panose="020B0703020204020201" charset="-122"/>
              <a:ea typeface="微软雅黑" panose="020B0703020204020201" charset="-122"/>
            </a:endParaRPr>
          </a:p>
        </p:txBody>
      </p:sp>
      <p:pic>
        <p:nvPicPr>
          <p:cNvPr id="4" name="图片 3" descr="2017090413502553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200" y="2301240"/>
            <a:ext cx="4414520" cy="341947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微软雅黑" panose="020B0703020204020201" charset="-122"/>
                <a:ea typeface="微软雅黑" panose="020B0703020204020201" charset="-122"/>
              </a:rPr>
              <a:t>势场法</a:t>
            </a:r>
            <a:endParaRPr lang="zh-CN" altLang="en-US">
              <a:latin typeface="微软雅黑" panose="020B0703020204020201" charset="-122"/>
              <a:ea typeface="微软雅黑" panose="020B0703020204020201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84570" y="3498850"/>
            <a:ext cx="5269230" cy="1024255"/>
          </a:xfrm>
        </p:spPr>
        <p:txBody>
          <a:bodyPr/>
          <a:p>
            <a:r>
              <a:rPr lang="zh-CN" altLang="en-US">
                <a:latin typeface="微软雅黑" panose="020B0703020204020201" charset="-122"/>
                <a:ea typeface="微软雅黑" panose="020B0703020204020201" charset="-122"/>
              </a:rPr>
              <a:t>和物理中电势很像，这里以目标点处为电势为</a:t>
            </a:r>
            <a:r>
              <a:rPr lang="en-US" altLang="zh-CN">
                <a:latin typeface="微软雅黑" panose="020B0703020204020201" charset="-122"/>
                <a:ea typeface="微软雅黑" panose="020B0703020204020201" charset="-122"/>
              </a:rPr>
              <a:t>0</a:t>
            </a:r>
            <a:r>
              <a:rPr lang="zh-CN" altLang="en-US">
                <a:latin typeface="微软雅黑" panose="020B0703020204020201" charset="-122"/>
                <a:ea typeface="微软雅黑" panose="020B0703020204020201" charset="-122"/>
              </a:rPr>
              <a:t>。</a:t>
            </a:r>
            <a:endParaRPr lang="zh-CN" altLang="en-US">
              <a:latin typeface="微软雅黑" panose="020B0703020204020201" charset="-122"/>
              <a:ea typeface="微软雅黑" panose="020B0703020204020201" charset="-122"/>
            </a:endParaRPr>
          </a:p>
        </p:txBody>
      </p:sp>
      <p:pic>
        <p:nvPicPr>
          <p:cNvPr id="4" name="图片 3" descr="2017090414115990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200" y="2070735"/>
            <a:ext cx="3042285" cy="38798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4" name="内容占位符 3"/>
          <p:cNvGraphicFramePr/>
          <p:nvPr>
            <p:ph idx="1"/>
          </p:nvPr>
        </p:nvGraphicFramePr>
        <p:xfrm>
          <a:off x="838200" y="1272540"/>
          <a:ext cx="10515600" cy="190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381000"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>
                        <a:latin typeface="微软雅黑" panose="020B0703020204020201" charset="-122"/>
                        <a:ea typeface="微软雅黑" panose="020B0703020204020201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>
                          <a:solidFill>
                            <a:schemeClr val="bg1"/>
                          </a:solidFill>
                          <a:latin typeface="微软雅黑" panose="020B0703020204020201" charset="-122"/>
                          <a:ea typeface="微软雅黑" panose="020B0703020204020201" charset="-122"/>
                        </a:rPr>
                        <a:t>优点</a:t>
                      </a:r>
                      <a:endParaRPr lang="zh-CN" altLang="en-US">
                        <a:solidFill>
                          <a:schemeClr val="bg1"/>
                        </a:solidFill>
                        <a:latin typeface="微软雅黑" panose="020B0703020204020201" charset="-122"/>
                        <a:ea typeface="微软雅黑" panose="020B0703020204020201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>
                          <a:solidFill>
                            <a:schemeClr val="bg1"/>
                          </a:solidFill>
                          <a:latin typeface="微软雅黑" panose="020B0703020204020201" charset="-122"/>
                          <a:ea typeface="微软雅黑" panose="020B0703020204020201" charset="-122"/>
                        </a:rPr>
                        <a:t>缺点</a:t>
                      </a:r>
                      <a:endParaRPr lang="zh-CN" altLang="en-US">
                        <a:solidFill>
                          <a:schemeClr val="bg1"/>
                        </a:solidFill>
                        <a:latin typeface="微软雅黑" panose="020B0703020204020201" charset="-122"/>
                        <a:ea typeface="微软雅黑" panose="020B0703020204020201" charset="-122"/>
                      </a:endParaRPr>
                    </a:p>
                  </a:txBody>
                  <a:tcPr/>
                </a:tc>
              </a:tr>
              <a:tr h="9144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>
                          <a:latin typeface="微软雅黑" panose="020B0703020204020201" charset="-122"/>
                          <a:ea typeface="微软雅黑" panose="020B0703020204020201" charset="-122"/>
                        </a:rPr>
                        <a:t>可视图法</a:t>
                      </a:r>
                      <a:endParaRPr lang="zh-CN" altLang="en-US">
                        <a:latin typeface="微软雅黑" panose="020B0703020204020201" charset="-122"/>
                        <a:ea typeface="微软雅黑" panose="020B0703020204020201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>
                          <a:latin typeface="微软雅黑" panose="020B0703020204020201" charset="-122"/>
                          <a:ea typeface="微软雅黑" panose="020B0703020204020201" charset="-122"/>
                        </a:rPr>
                        <a:t>概念直观，实现简单。</a:t>
                      </a:r>
                      <a:endParaRPr lang="zh-CN" altLang="en-US">
                        <a:latin typeface="微软雅黑" panose="020B0703020204020201" charset="-122"/>
                        <a:ea typeface="微软雅黑" panose="020B0703020204020201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>
                          <a:latin typeface="微软雅黑" panose="020B0703020204020201" charset="-122"/>
                          <a:ea typeface="微软雅黑" panose="020B0703020204020201" charset="-122"/>
                        </a:rPr>
                        <a:t>缺乏灵活性，起始点和目标点改变，就要重新构造可视图；不一定得到最优路径。</a:t>
                      </a:r>
                      <a:endParaRPr lang="zh-CN" altLang="en-US">
                        <a:latin typeface="微软雅黑" panose="020B0703020204020201" charset="-122"/>
                        <a:ea typeface="微软雅黑" panose="020B0703020204020201" charset="-122"/>
                      </a:endParaRPr>
                    </a:p>
                  </a:txBody>
                  <a:tcPr/>
                </a:tc>
              </a:tr>
              <a:tr h="61849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微软雅黑" panose="020B0703020204020201" charset="-122"/>
                          <a:ea typeface="微软雅黑" panose="020B0703020204020201" charset="-122"/>
                        </a:rPr>
                        <a:t>Voronoi</a:t>
                      </a:r>
                      <a:r>
                        <a:rPr lang="zh-CN" altLang="en-US">
                          <a:latin typeface="微软雅黑" panose="020B0703020204020201" charset="-122"/>
                          <a:ea typeface="微软雅黑" panose="020B0703020204020201" charset="-122"/>
                        </a:rPr>
                        <a:t>图法</a:t>
                      </a:r>
                      <a:endParaRPr lang="zh-CN" altLang="en-US">
                        <a:latin typeface="微软雅黑" panose="020B0703020204020201" charset="-122"/>
                        <a:ea typeface="微软雅黑" panose="020B0703020204020201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>
                          <a:latin typeface="微软雅黑" panose="020B0703020204020201" charset="-122"/>
                          <a:ea typeface="微软雅黑" panose="020B0703020204020201" charset="-122"/>
                        </a:rPr>
                        <a:t>规划的路径安全性非常好。</a:t>
                      </a:r>
                      <a:endParaRPr lang="zh-CN" altLang="en-US">
                        <a:latin typeface="微软雅黑" panose="020B0703020204020201" charset="-122"/>
                        <a:ea typeface="微软雅黑" panose="020B0703020204020201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>
                          <a:latin typeface="微软雅黑" panose="020B0703020204020201" charset="-122"/>
                          <a:ea typeface="微软雅黑" panose="020B0703020204020201" charset="-122"/>
                        </a:rPr>
                        <a:t>计算量很大；规划出的路径往往不是最优路径。</a:t>
                      </a:r>
                      <a:endParaRPr lang="zh-CN" altLang="en-US">
                        <a:latin typeface="微软雅黑" panose="020B0703020204020201" charset="-122"/>
                        <a:ea typeface="微软雅黑" panose="020B0703020204020201" charset="-122"/>
                      </a:endParaRPr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>
                          <a:latin typeface="微软雅黑" panose="020B0703020204020201" charset="-122"/>
                          <a:ea typeface="微软雅黑" panose="020B0703020204020201" charset="-122"/>
                        </a:rPr>
                        <a:t>单元分解法</a:t>
                      </a:r>
                      <a:endParaRPr lang="zh-CN" altLang="en-US">
                        <a:latin typeface="微软雅黑" panose="020B0703020204020201" charset="-122"/>
                        <a:ea typeface="微软雅黑" panose="020B0703020204020201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>
                          <a:latin typeface="微软雅黑" panose="020B0703020204020201" charset="-122"/>
                          <a:ea typeface="微软雅黑" panose="020B0703020204020201" charset="-122"/>
                        </a:rPr>
                        <a:t>划分简单，易于实现。</a:t>
                      </a:r>
                      <a:endParaRPr lang="zh-CN" altLang="en-US">
                        <a:latin typeface="微软雅黑" panose="020B0703020204020201" charset="-122"/>
                        <a:ea typeface="微软雅黑" panose="020B0703020204020201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>
                          <a:latin typeface="微软雅黑" panose="020B0703020204020201" charset="-122"/>
                          <a:ea typeface="微软雅黑" panose="020B0703020204020201" charset="-122"/>
                        </a:rPr>
                        <a:t>不一定能精确表示障碍物，这种误差可以通过增加单元的数量来提高划分精度，但这又导致空间开销增大。</a:t>
                      </a:r>
                      <a:endParaRPr lang="zh-CN" altLang="en-US">
                        <a:latin typeface="微软雅黑" panose="020B0703020204020201" charset="-122"/>
                        <a:ea typeface="微软雅黑" panose="020B0703020204020201" charset="-122"/>
                      </a:endParaRPr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>
                          <a:latin typeface="微软雅黑" panose="020B0703020204020201" charset="-122"/>
                          <a:ea typeface="微软雅黑" panose="020B0703020204020201" charset="-122"/>
                        </a:rPr>
                        <a:t>势场法</a:t>
                      </a:r>
                      <a:endParaRPr lang="zh-CN" altLang="en-US">
                        <a:latin typeface="微软雅黑" panose="020B0703020204020201" charset="-122"/>
                        <a:ea typeface="微软雅黑" panose="020B0703020204020201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>
                          <a:latin typeface="微软雅黑" panose="020B0703020204020201" charset="-122"/>
                          <a:ea typeface="微软雅黑" panose="020B0703020204020201" charset="-122"/>
                        </a:rPr>
                        <a:t>可以迅速躲开突发障碍物，实时性较好。</a:t>
                      </a:r>
                      <a:endParaRPr lang="zh-CN" altLang="en-US">
                        <a:latin typeface="微软雅黑" panose="020B0703020204020201" charset="-122"/>
                        <a:ea typeface="微软雅黑" panose="020B0703020204020201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>
                          <a:latin typeface="微软雅黑" panose="020B0703020204020201" charset="-122"/>
                          <a:ea typeface="微软雅黑" panose="020B0703020204020201" charset="-122"/>
                        </a:rPr>
                        <a:t>容易产生局部极点和死锁；在相近障碍物之间不能发现路径；在障碍物前面发生震荡；在狭窄通道中摆动。</a:t>
                      </a:r>
                      <a:endParaRPr lang="zh-CN" altLang="en-US">
                        <a:latin typeface="微软雅黑" panose="020B0703020204020201" charset="-122"/>
                        <a:ea typeface="微软雅黑" panose="020B0703020204020201" charset="-122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latin typeface="微软雅黑" panose="020B0703020204020201" charset="-122"/>
                <a:ea typeface="微软雅黑" panose="020B0703020204020201" charset="-122"/>
              </a:rPr>
              <a:t>Voronoi</a:t>
            </a:r>
            <a:r>
              <a:rPr lang="zh-CN" altLang="en-US">
                <a:latin typeface="微软雅黑" panose="020B0703020204020201" charset="-122"/>
                <a:ea typeface="微软雅黑" panose="020B0703020204020201" charset="-122"/>
              </a:rPr>
              <a:t>图算法</a:t>
            </a:r>
            <a:endParaRPr lang="zh-CN" altLang="en-US">
              <a:latin typeface="微软雅黑" panose="020B0703020204020201" charset="-122"/>
              <a:ea typeface="微软雅黑" panose="020B0703020204020201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p>
            <a:r>
              <a:rPr lang="en-US" altLang="zh-CN">
                <a:latin typeface="微软雅黑" panose="020B0703020204020201" charset="-122"/>
                <a:ea typeface="微软雅黑" panose="020B0703020204020201" charset="-122"/>
              </a:rPr>
              <a:t>1.</a:t>
            </a:r>
            <a:r>
              <a:rPr lang="zh-CN" altLang="en-US">
                <a:latin typeface="微软雅黑" panose="020B0703020204020201" charset="-122"/>
                <a:ea typeface="微软雅黑" panose="020B0703020204020201" charset="-122"/>
              </a:rPr>
              <a:t>根据障碍物生成</a:t>
            </a:r>
            <a:r>
              <a:rPr lang="en-US" altLang="zh-CN">
                <a:latin typeface="微软雅黑" panose="020B0703020204020201" charset="-122"/>
                <a:ea typeface="微软雅黑" panose="020B0703020204020201" charset="-122"/>
              </a:rPr>
              <a:t>Voronoi</a:t>
            </a:r>
            <a:r>
              <a:rPr lang="zh-CN" altLang="en-US">
                <a:latin typeface="微软雅黑" panose="020B0703020204020201" charset="-122"/>
                <a:ea typeface="微软雅黑" panose="020B0703020204020201" charset="-122"/>
              </a:rPr>
              <a:t>图。</a:t>
            </a:r>
            <a:endParaRPr lang="zh-CN" altLang="en-US">
              <a:latin typeface="微软雅黑" panose="020B0703020204020201" charset="-122"/>
              <a:ea typeface="微软雅黑" panose="020B0703020204020201" charset="-122"/>
            </a:endParaRPr>
          </a:p>
          <a:p>
            <a:r>
              <a:rPr lang="en-US" altLang="zh-CN">
                <a:latin typeface="微软雅黑" panose="020B0703020204020201" charset="-122"/>
                <a:ea typeface="微软雅黑" panose="020B0703020204020201" charset="-122"/>
              </a:rPr>
              <a:t>2.</a:t>
            </a:r>
            <a:r>
              <a:rPr lang="zh-CN" altLang="en-US">
                <a:latin typeface="微软雅黑" panose="020B0703020204020201" charset="-122"/>
                <a:ea typeface="微软雅黑" panose="020B0703020204020201" charset="-122"/>
              </a:rPr>
              <a:t>计算</a:t>
            </a:r>
            <a:r>
              <a:rPr lang="en-US" altLang="zh-CN">
                <a:latin typeface="微软雅黑" panose="020B0703020204020201" charset="-122"/>
                <a:ea typeface="微软雅黑" panose="020B0703020204020201" charset="-122"/>
              </a:rPr>
              <a:t>Voronoi</a:t>
            </a:r>
            <a:r>
              <a:rPr lang="zh-CN" altLang="en-US">
                <a:latin typeface="微软雅黑" panose="020B0703020204020201" charset="-122"/>
                <a:ea typeface="微软雅黑" panose="020B0703020204020201" charset="-122"/>
              </a:rPr>
              <a:t>图各边长短，形成加权</a:t>
            </a:r>
            <a:r>
              <a:rPr lang="en-US" altLang="zh-CN">
                <a:latin typeface="微软雅黑" panose="020B0703020204020201" charset="-122"/>
                <a:ea typeface="微软雅黑" panose="020B0703020204020201" charset="-122"/>
              </a:rPr>
              <a:t>Voronoi</a:t>
            </a:r>
            <a:r>
              <a:rPr lang="zh-CN" altLang="en-US">
                <a:latin typeface="微软雅黑" panose="020B0703020204020201" charset="-122"/>
                <a:ea typeface="微软雅黑" panose="020B0703020204020201" charset="-122"/>
              </a:rPr>
              <a:t>图。</a:t>
            </a:r>
            <a:endParaRPr lang="zh-CN" altLang="en-US">
              <a:latin typeface="微软雅黑" panose="020B0703020204020201" charset="-122"/>
              <a:ea typeface="微软雅黑" panose="020B0703020204020201" charset="-122"/>
            </a:endParaRPr>
          </a:p>
          <a:p>
            <a:r>
              <a:rPr lang="en-US" altLang="zh-CN">
                <a:latin typeface="微软雅黑" panose="020B0703020204020201" charset="-122"/>
                <a:ea typeface="微软雅黑" panose="020B0703020204020201" charset="-122"/>
              </a:rPr>
              <a:t>3.</a:t>
            </a:r>
            <a:r>
              <a:rPr lang="zh-CN" altLang="en-US">
                <a:latin typeface="微软雅黑" panose="020B0703020204020201" charset="-122"/>
                <a:ea typeface="微软雅黑" panose="020B0703020204020201" charset="-122"/>
              </a:rPr>
              <a:t>起始点和目标点与其几何距离最近的几个点连接。</a:t>
            </a:r>
            <a:endParaRPr lang="zh-CN" altLang="en-US">
              <a:latin typeface="微软雅黑" panose="020B0703020204020201" charset="-122"/>
              <a:ea typeface="微软雅黑" panose="020B0703020204020201" charset="-122"/>
            </a:endParaRPr>
          </a:p>
          <a:p>
            <a:r>
              <a:rPr lang="en-US" altLang="zh-CN">
                <a:latin typeface="微软雅黑" panose="020B0703020204020201" charset="-122"/>
                <a:ea typeface="微软雅黑" panose="020B0703020204020201" charset="-122"/>
              </a:rPr>
              <a:t>4.</a:t>
            </a:r>
            <a:r>
              <a:rPr lang="zh-CN" altLang="en-US">
                <a:latin typeface="微软雅黑" panose="020B0703020204020201" charset="-122"/>
                <a:ea typeface="微软雅黑" panose="020B0703020204020201" charset="-122"/>
              </a:rPr>
              <a:t>选择合适的最短路径搜索算法</a:t>
            </a:r>
            <a:endParaRPr lang="zh-CN" altLang="en-US">
              <a:latin typeface="微软雅黑" panose="020B0703020204020201" charset="-122"/>
              <a:ea typeface="微软雅黑" panose="020B0703020204020201" charset="-122"/>
            </a:endParaRPr>
          </a:p>
          <a:p>
            <a:r>
              <a:rPr lang="en-US" altLang="zh-CN">
                <a:latin typeface="微软雅黑" panose="020B0703020204020201" charset="-122"/>
                <a:ea typeface="微软雅黑" panose="020B0703020204020201" charset="-122"/>
              </a:rPr>
              <a:t>5.</a:t>
            </a:r>
            <a:r>
              <a:rPr lang="zh-CN" altLang="en-US">
                <a:latin typeface="微软雅黑" panose="020B0703020204020201" charset="-122"/>
                <a:ea typeface="微软雅黑" panose="020B0703020204020201" charset="-122"/>
              </a:rPr>
              <a:t>平滑处理</a:t>
            </a:r>
            <a:endParaRPr lang="zh-CN" altLang="en-US">
              <a:latin typeface="微软雅黑" panose="020B0703020204020201" charset="-122"/>
              <a:ea typeface="微软雅黑" panose="020B0703020204020201" charset="-122"/>
            </a:endParaRPr>
          </a:p>
          <a:p>
            <a:endParaRPr lang="zh-CN" altLang="en-US">
              <a:latin typeface="微软雅黑" panose="020B0703020204020201" charset="-122"/>
              <a:ea typeface="微软雅黑" panose="020B0703020204020201" charset="-122"/>
            </a:endParaRPr>
          </a:p>
        </p:txBody>
      </p:sp>
      <p:pic>
        <p:nvPicPr>
          <p:cNvPr id="5" name="图片 4" descr="截屏2020-05-1319.36.5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00070" y="3957320"/>
            <a:ext cx="5992495" cy="2059305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SLIDE_MODEL_TYPE" val="cover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801</Words>
  <Application>WPS 演示</Application>
  <PresentationFormat>宽屏</PresentationFormat>
  <Paragraphs>76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20" baseType="lpstr">
      <vt:lpstr>Arial</vt:lpstr>
      <vt:lpstr>方正书宋_GBK</vt:lpstr>
      <vt:lpstr>Wingdings</vt:lpstr>
      <vt:lpstr>微软雅黑</vt:lpstr>
      <vt:lpstr>宋体</vt:lpstr>
      <vt:lpstr>Arial Unicode MS</vt:lpstr>
      <vt:lpstr>汉仪书宋二KW</vt:lpstr>
      <vt:lpstr>Calibri Light</vt:lpstr>
      <vt:lpstr>Helvetica Neue</vt:lpstr>
      <vt:lpstr>Calibri</vt:lpstr>
      <vt:lpstr>Office 主题</vt:lpstr>
      <vt:lpstr>Voronoi图算法</vt:lpstr>
      <vt:lpstr>参考</vt:lpstr>
      <vt:lpstr>传统方法</vt:lpstr>
      <vt:lpstr>可视图法</vt:lpstr>
      <vt:lpstr>Voronoi图</vt:lpstr>
      <vt:lpstr>单元分解</vt:lpstr>
      <vt:lpstr>势场法</vt:lpstr>
      <vt:lpstr>PowerPoint 演示文稿</vt:lpstr>
      <vt:lpstr>Voronoi图算法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yiyujie</dc:creator>
  <cp:lastModifiedBy>yiyujie</cp:lastModifiedBy>
  <cp:revision>3</cp:revision>
  <dcterms:created xsi:type="dcterms:W3CDTF">2020-05-13T12:59:16Z</dcterms:created>
  <dcterms:modified xsi:type="dcterms:W3CDTF">2020-05-13T12:59:16Z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2052-1.1.0.1454</vt:lpwstr>
  </property>
</Properties>
</file>